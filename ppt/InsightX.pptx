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411480" cy="411480"/>
          </a:xfrm>
          <a:prstGeom prst="ellipse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erif T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57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erif TC"/>
              </a:rPr>
              <a:t>insightx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02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938E"/>
                </a:solidFill>
                <a:latin typeface="Menlo"/>
              </a:rPr>
              <a:t>A I   顧 客 意 見 洞 察 平 台   ·   L I V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INSIGHTX · PROJECT INTRO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erif TC"/>
              </a:rPr>
              <a:t>讀完所有評論，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erif TC"/>
              </a:rPr>
              <a:t>再給你一份報告。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0B6B3"/>
                </a:solidFill>
                <a:latin typeface="Noto Sans TC"/>
              </a:rPr>
              <a:t>輸入一個 Google Maps 或 YouTube 連結 ── AI 自動整理成情緒分析、SWOT、回覆草稿、行銷貼文、週行動計畫。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17920"/>
            <a:ext cx="10881360" cy="9525"/>
          </a:xfrm>
          <a:prstGeom prst="rect">
            <a:avLst/>
          </a:prstGeom>
          <a:solidFill>
            <a:srgbClr val="44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0B6B3"/>
                </a:solidFill>
                <a:latin typeface="Menlo"/>
              </a:rPr>
              <a:t>INSIGHTX  · 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355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0B6B3"/>
                </a:solidFill>
                <a:latin typeface="Menlo"/>
              </a:rPr>
              <a:t>Jordan711-insightx-demo.hf.space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F1C"/>
                </a:solidFill>
                <a:latin typeface="Noto Serif TC"/>
              </a:rPr>
              <a:t>顧客每天在留言，但意見很少變成決策。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管理者每天打開後台看到一堆五星評論，但下一步要做什麼？沒人說得出來。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212080" cy="173736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73152" cy="1737360"/>
          </a:xfrm>
          <a:prstGeom prst="rect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太碎了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意見散在 Google Maps、YouTube、IG、LINE 各處，
沒人有時間全部讀完。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5212080" cy="173736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73152" cy="1737360"/>
          </a:xfrm>
          <a:prstGeom prst="rect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太多了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204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50 則留言已經是負擔，500 則直接放棄。看得到「很多人說
好吃」，看不到「冷氣太強客人不想久坐」這種真正的細節。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5212080" cy="173736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73152" cy="1737360"/>
          </a:xfrm>
          <a:prstGeom prst="rect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回應壓力大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79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負評上線，店長被情緒帶著走，回覆要嘛太硬要嘛太軟，
反而失去挽回客人的機會。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63440"/>
            <a:ext cx="5212080" cy="173736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73152" cy="1737360"/>
          </a:xfrm>
          <a:prstGeom prst="rect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892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新店長沒練習場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40679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剛升上店長的人沒處理過真正的危機，
學費全部是用真實客人賠的。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解決方案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F1C"/>
                </a:solidFill>
                <a:latin typeface="Noto Serif TC"/>
              </a:rPr>
              <a:t>一個 URL 換一份完整報告。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把「讀評論 → 想策略 → 寫回覆 → 練手」串成同一條流水線。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45720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跨平台抓料，不用開瀏覽器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Google Maps 用 Serper API 抓店家評論，YouTube 用官方 Data API 抓影片留言。
速度快、也不容易被反爬擋掉。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45720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9 個 AI 功能共用一份資料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情緒分析、SWOT、回覆草稿、行銷文案、根源分析、週計畫、培訓劇本、內部信、AI 對話顧問。
依平台切換語氣（餐廳 / 零售 / YouTuber）。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45720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多店家工作區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66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每位使用者有自己的工作區，可以新增多個店家、保留完整歷史紀錄。
隨時回看上個月對某家分店的分析。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45720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管理者決策模擬遊戲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217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把真實負評倒進小遊戲，AI 當你的虛擬顧問即時給回饋。
練手不用拿真客人試刀。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AI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F1C"/>
                </a:solidFill>
                <a:latin typeface="Noto Serif TC"/>
              </a:rPr>
              <a:t>9 個 AI 功能，共用一份原始評論。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依平台切換語氣 ── 餐廳老闆看到的是門市建議，YouTuber 看到的是頻道策略。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情緒分析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正負向 + 主題分布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74320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54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SWOT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520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自動生成戰略矩陣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74320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926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154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回覆草稿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每則負評一個對應草稿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行銷文案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門市活動 / 影片宣傳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206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434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根源分析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800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找出真正的痛點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402336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206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434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週行動計畫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一週要做哪些具體事項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86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15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培訓劇本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08075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員工 / 剪輯師訓練教材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530352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5486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5715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內部信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608075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門市 / 團隊週報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303520"/>
            <a:ext cx="3566160" cy="1097280"/>
          </a:xfrm>
          <a:prstGeom prst="rect">
            <a:avLst/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5486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65A3A"/>
                </a:solidFill>
                <a:latin typeface="Menlo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715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F1C"/>
                </a:solidFill>
                <a:latin typeface="Noto Serif TC"/>
              </a:rPr>
              <a:t>AI 顧問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608075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隨時可問的虛擬導師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決策模擬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F1C"/>
                </a:solidFill>
                <a:latin typeface="Noto Serif TC"/>
              </a:rPr>
              <a:t>用真實負評，練決策。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新任店長最痛的事 ── 第一次處理客訴。這個遊戲讓你在真實負評上練手。</a:t>
            </a:r>
          </a:p>
        </p:txBody>
      </p:sp>
      <p:pic>
        <p:nvPicPr>
          <p:cNvPr id="7" name="Picture 6" descr="game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34640"/>
            <a:ext cx="54864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29260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D65A3A"/>
                </a:solidFill>
                <a:latin typeface="Noto Serif TC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92608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AI 出題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38328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把真實負評變成情境問句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31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D65A3A"/>
                </a:solidFill>
                <a:latin typeface="Noto Serif TC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9319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你選回應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3891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從多個策略選一個你會做的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37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D65A3A"/>
                </a:solidFill>
                <a:latin typeface="Noto Serif TC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9377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AI 給回饋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3949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評估你的選擇，給情商分數 + 建議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C5F2D"/>
                </a:solidFill>
                <a:latin typeface="Noto Serif TC"/>
              </a:rPr>
              <a:t>── 學費，不用拿真客人賠。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技術選擇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F1C"/>
                </a:solidFill>
                <a:latin typeface="Noto Serif TC"/>
              </a:rPr>
              <a:t>3 個決定，影響使用體驗。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不堆技術名詞 ── 講為什麼這樣做、解了什麼問題。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07792"/>
            <a:ext cx="182880" cy="1828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多人也能安全使用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最初版本所有人共用一個帳號，任何人打開都看到別人的資料。
現在每位訪客一進站，自動拿到一個身分（用 cookie 記下來），
所有資料綁在這身分上。沒有註冊、沒有密碼，但每個人的工作區完全分開。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233672"/>
            <a:ext cx="182880" cy="1828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不會因為 AI 抖一下就掛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免費版 Gemini 半夜常常會卡。我做了一個自動換模型的機制：
主用快的，失敗就降到大的，再不行換 Google 的旗艦，最後 lite 版兜底。
同一次請求一路 fallback，使用者完全感覺不到。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559552"/>
            <a:ext cx="182880" cy="1828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F1C"/>
                </a:solidFill>
                <a:latin typeface="Noto Serif TC"/>
              </a:rPr>
              <a:t>雙 AI 寫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978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Noto Sans TC"/>
              </a:rPr>
              <a:t>改動比較大的時候，我習慣讓 Codex（另一個 AI 助手）幫我看一遍程式碼。
一個 AI 寫、另一個 AI 挑毛病。抓出來的問題比自己看更多 ──
等於多了一個免費的 reviewer。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F1C"/>
                </a:solidFill>
                <a:latin typeface="Noto Serif TC"/>
              </a:rPr>
              <a:t>從一張圖看整個系統。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後端 FastAPI，AI 是 Gemini，部署在 Hugging Face Spaces ── 全部用免費方案組起來。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F1C"/>
                </a:solidFill>
                <a:latin typeface="Noto Sans TC"/>
              </a:rPr>
              <a:t>後端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54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Menlo"/>
              </a:rPr>
              <a:t>FastAPI · Python 3.10+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F1C"/>
                </a:solidFill>
                <a:latin typeface="Noto Sans TC"/>
              </a:rPr>
              <a:t>資料庫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57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Menlo"/>
              </a:rPr>
              <a:t>Turso · SQLite (libsql)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F1C"/>
                </a:solidFill>
                <a:latin typeface="Noto Sans TC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05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Menlo"/>
              </a:rPr>
              <a:t>Google Gemini (多模型 fallback)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F1C"/>
                </a:solidFill>
                <a:latin typeface="Noto Sans TC"/>
              </a:rPr>
              <a:t>爬蟲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Menlo"/>
              </a:rPr>
              <a:t>Serper API + YouTube Data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F1C"/>
                </a:solidFill>
                <a:latin typeface="Noto Sans TC"/>
              </a:rPr>
              <a:t>前端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1663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Menlo"/>
              </a:rPr>
              <a:t>React 18 + 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F1C"/>
                </a:solidFill>
                <a:latin typeface="Noto Sans TC"/>
              </a:rPr>
              <a:t>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669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61"/>
                </a:solidFill>
                <a:latin typeface="Menlo"/>
              </a:rPr>
              <a:t>Docker on HF Spaces ($0/月)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DATA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200400"/>
            <a:ext cx="4846320" cy="457200"/>
          </a:xfrm>
          <a:prstGeom prst="rect">
            <a:avLst/>
          </a:prstGeom>
          <a:solidFill>
            <a:srgbClr val="FAF7F2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20040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F1C"/>
                </a:solidFill>
                <a:latin typeface="Noto Sans TC"/>
              </a:rPr>
              <a:t>使用者瀏覽器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03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A938E"/>
                </a:solidFill>
                <a:latin typeface="Noto Sans TC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23360"/>
            <a:ext cx="4846320" cy="457200"/>
          </a:xfrm>
          <a:prstGeom prst="rect">
            <a:avLst/>
          </a:prstGeom>
          <a:solidFill>
            <a:srgbClr val="F3EEE5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2336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F1C"/>
                </a:solidFill>
                <a:latin typeface="Noto Sans TC"/>
              </a:rPr>
              <a:t>FastAPI 後端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72000"/>
            <a:ext cx="2286000" cy="411480"/>
          </a:xfrm>
          <a:prstGeom prst="rect">
            <a:avLst/>
          </a:prstGeom>
          <a:solidFill>
            <a:srgbClr val="FAF7F2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57200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1C"/>
                </a:solidFill>
                <a:latin typeface="Noto Sans TC"/>
              </a:rPr>
              <a:t>/api/v4 (一次性)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4572000"/>
            <a:ext cx="2286000" cy="411480"/>
          </a:xfrm>
          <a:prstGeom prst="rect">
            <a:avLst/>
          </a:prstGeom>
          <a:solidFill>
            <a:srgbClr val="FAF7F2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57200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1C"/>
                </a:solidFill>
                <a:latin typeface="Noto Sans TC"/>
              </a:rPr>
              <a:t>/api/v5 (持久工作區)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A938E"/>
                </a:solidFill>
                <a:latin typeface="Noto Sans TC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440680"/>
            <a:ext cx="1143000" cy="502920"/>
          </a:xfrm>
          <a:prstGeom prst="rect">
            <a:avLst/>
          </a:prstGeom>
          <a:solidFill>
            <a:srgbClr val="F3EEE5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440680"/>
            <a:ext cx="1143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5F2D"/>
                </a:solidFill>
                <a:latin typeface="Noto Sans TC"/>
              </a:rPr>
              <a:t>Gemini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5440680"/>
            <a:ext cx="1143000" cy="502920"/>
          </a:xfrm>
          <a:prstGeom prst="rect">
            <a:avLst/>
          </a:prstGeom>
          <a:solidFill>
            <a:srgbClr val="F3EEE5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440680"/>
            <a:ext cx="1143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65A3A"/>
                </a:solidFill>
                <a:latin typeface="Noto Sans TC"/>
              </a:rPr>
              <a:t>Turso 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5440680"/>
            <a:ext cx="1143000" cy="502920"/>
          </a:xfrm>
          <a:prstGeom prst="rect">
            <a:avLst/>
          </a:prstGeom>
          <a:solidFill>
            <a:srgbClr val="F3EEE5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5440680"/>
            <a:ext cx="1143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61"/>
                </a:solidFill>
                <a:latin typeface="Noto Sans TC"/>
              </a:rPr>
              <a:t>Serper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5440680"/>
            <a:ext cx="1143000" cy="502920"/>
          </a:xfrm>
          <a:prstGeom prst="rect">
            <a:avLst/>
          </a:prstGeom>
          <a:solidFill>
            <a:srgbClr val="F3EEE5"/>
          </a:solidFill>
          <a:ln>
            <a:solidFill>
              <a:srgbClr val="B0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5440680"/>
            <a:ext cx="1143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61"/>
                </a:solidFill>
                <a:latin typeface="Noto Sans TC"/>
              </a:rPr>
              <a:t>YouTube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§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學習心得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F1C"/>
                </a:solidFill>
                <a:latin typeface="Noto Serif TC"/>
              </a:rPr>
              <a:t>做這個專案學到的事。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61"/>
                </a:solidFill>
                <a:latin typeface="Noto Sans TC"/>
              </a:rPr>
              <a:t>從第一版 demo 到能上線給人用的版本，學到幾件之前沒想過的事。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65A3A"/>
                </a:solidFill>
                <a:latin typeface="Noto Serif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51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F1C"/>
                </a:solidFill>
                <a:latin typeface="Noto Serif TC"/>
              </a:rPr>
              <a:t>早期選錯路徑代價很大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最初用 Playwright 自動瀏覽器抓 Google Maps，後來 Google 改了反爬機制只好整段砍掉換成 Serper API。
如果一開始先試 API，會省下大概兩個月。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65A3A"/>
                </a:solidFill>
                <a:latin typeface="Noto Serif T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11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F1C"/>
                </a:solidFill>
                <a:latin typeface="Noto Serif TC"/>
              </a:rPr>
              <a:t>API 抖動比 prompt 寫不好還麻煩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69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免費版 Gemini 半夜會 500，再怎麼調 prompt 都救不了。做了多模型 fallback 之後，
可用率從大概 85% 拉到 99%。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65A3A"/>
                </a:solidFill>
                <a:latin typeface="Noto Serif T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72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F1C"/>
                </a:solidFill>
                <a:latin typeface="Noto Serif TC"/>
              </a:rPr>
              <a:t>同步反而比較好 debug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原本後端是 async 寫的，後來為了搭 Turso 改回同步。原本以為是退步，
結果發現用 threading 反而出問題比較好追，效能也沒掉。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D65A3A"/>
                </a:solidFill>
                <a:latin typeface="Noto Serif T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532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F1C"/>
                </a:solidFill>
                <a:latin typeface="Noto Serif TC"/>
              </a:rPr>
              <a:t>多一個 AI 幫忙看 code 真的有差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9893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661"/>
                </a:solidFill>
                <a:latin typeface="Noto Sans TC"/>
              </a:rPr>
              <a:t>自己寫自己看很容易漏掉邊角，找 Codex 一起 review 後抓到不少會炸的 bug ──
多花一點時間，少踩很多坑。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411480" cy="411480"/>
          </a:xfrm>
          <a:prstGeom prst="ellipse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erif T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57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erif TC"/>
              </a:rPr>
              <a:t>insightx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938E"/>
                </a:solidFill>
                <a:latin typeface="Menlo"/>
              </a:rPr>
              <a:t>T H A N K   Y O 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65A3A"/>
                </a:solidFill>
                <a:latin typeface="Menlo"/>
              </a:rPr>
              <a:t>現在就試。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Noto Serif TC"/>
              </a:rPr>
              <a:t>免註冊。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erif TC"/>
              </a:rPr>
              <a:t>免安裝。月費 $0。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6B3"/>
                </a:solidFill>
                <a:latin typeface="Noto Sans TC"/>
              </a:rPr>
              <a:t>Demo 跑在 Hugging Face Spaces 免費方案。48 小時沒人用會睡眠，第一次點要等 30 秒醒過來。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943600"/>
            <a:ext cx="10881360" cy="9525"/>
          </a:xfrm>
          <a:prstGeom prst="rect">
            <a:avLst/>
          </a:prstGeom>
          <a:solidFill>
            <a:srgbClr val="44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🌐  線上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nlo"/>
              </a:rPr>
              <a:t>Jordan711-insightx-demo.hf.space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126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38E"/>
                </a:solidFill>
                <a:latin typeface="Menlo"/>
              </a:rPr>
              <a:t>📦 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nlo"/>
              </a:rPr>
              <a:t>github.com/GKS711/InsightX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