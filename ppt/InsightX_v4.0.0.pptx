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411480" cy="411480"/>
          </a:xfrm>
          <a:prstGeom prst="ellipse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9319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Noto Serif T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57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erif TC"/>
              </a:rPr>
              <a:t>insightx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502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8A938E"/>
                </a:solidFill>
                <a:latin typeface="Menlo"/>
              </a:rPr>
              <a:t>V 4 . 0 . 0   ·   L I V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D65A3A"/>
                </a:solidFill>
                <a:latin typeface="Menlo"/>
              </a:rPr>
              <a:t>AI · SHOP / CHANNEL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Noto Serif TC"/>
              </a:rPr>
              <a:t>把顧客每一句話，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Noto Serif TC"/>
              </a:rPr>
              <a:t>讀給老闆聽。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0B6B3"/>
                </a:solidFill>
                <a:latin typeface="Noto Sans TC"/>
              </a:rPr>
              <a:t>AI 驅動的雙平台顧客回饋分析 — Google Maps 店家評論 + YouTube 影片留言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17920"/>
            <a:ext cx="10881360" cy="10972"/>
          </a:xfrm>
          <a:prstGeom prst="rect">
            <a:avLst/>
          </a:prstGeom>
          <a:solidFill>
            <a:srgbClr val="44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0B6B3"/>
                </a:solidFill>
                <a:latin typeface="Menlo"/>
              </a:rPr>
              <a:t>INSIGHTX  ·  AI ADVISOR REPORT  · 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3550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0B6B3"/>
                </a:solidFill>
                <a:latin typeface="Menlo"/>
              </a:rPr>
              <a:t>github.com/GKS711/InsightX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§01  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讀不完，是死循環。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店家有 100 則評論、創作者有 1000 則留言 — 沒人有時間逐條讀。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1188720" cy="274320"/>
          </a:xfrm>
          <a:prstGeom prst="rect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enlo"/>
              </a:rPr>
              <a:t>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61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Menlo"/>
              </a:rPr>
              <a:t>GOOGLE 店家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F1C"/>
                </a:solidFill>
                <a:latin typeface="Noto Serif TC"/>
              </a:rPr>
              <a:t>讀完 200 則評論、整理回覆？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661"/>
                </a:solidFill>
                <a:latin typeface="Noto Sans TC"/>
              </a:rPr>
              <a:t>平均一則 30-60 秒，整月評論 200 則 = 整天 only this。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661"/>
                </a:solidFill>
                <a:latin typeface="Noto Sans TC"/>
              </a:rPr>
              <a:t>沒空讀 → 沒洞察 → 看不出顧客真正在意什麼。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661"/>
                </a:solidFill>
                <a:latin typeface="Noto Sans TC"/>
              </a:rPr>
              <a:t>回覆草稿要寫到讓客戶感受到誠意又不卑微，難。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1188720" cy="274320"/>
          </a:xfrm>
          <a:prstGeom prst="rect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743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enlo"/>
              </a:rP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614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Menlo"/>
              </a:rPr>
              <a:t>YOUTUBE 創作者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F1C"/>
                </a:solidFill>
                <a:latin typeface="Noto Serif TC"/>
              </a:rPr>
              <a:t>上千則留言、抓不到改進方向？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661"/>
                </a:solidFill>
                <a:latin typeface="Noto Sans TC"/>
              </a:rPr>
              <a:t>熱門影片留言破千，下一支該往哪個方向做？看不出。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661"/>
                </a:solidFill>
                <a:latin typeface="Noto Sans TC"/>
              </a:rPr>
              <a:t>正評負評混在一起，演算法到底為什麼沒推？沒線索。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661"/>
                </a:solidFill>
                <a:latin typeface="Noto Sans TC"/>
              </a:rPr>
              <a:t>想跟頻道資料對話，需要一個讀過所有留言的副駕駛。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§02  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一個 URL，一份顧問報告。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貼上連結 → AI 自動爬取 + 分析 + 生成 9 種策略產出 → 報告秒回。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D65A3A"/>
                </a:solidFill>
                <a:latin typeface="Noto Serif T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291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1C"/>
                </a:solidFill>
                <a:latin typeface="Noto Serif TC"/>
              </a:rPr>
              <a:t>貼上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8404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661"/>
                </a:solidFill>
                <a:latin typeface="Noto Sans TC"/>
              </a:rPr>
              <a:t>Google Maps 店家網址
或 YouTube 影片網址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33832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8A938E"/>
                </a:solidFill>
                <a:latin typeface="Noto Sans TC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1089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D65A3A"/>
                </a:solidFill>
                <a:latin typeface="Noto Serif T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291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1C"/>
                </a:solidFill>
                <a:latin typeface="Noto Serif TC"/>
              </a:rPr>
              <a:t>AI 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8404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661"/>
                </a:solidFill>
                <a:latin typeface="Noto Sans TC"/>
              </a:rPr>
              <a:t>Serper / YouTube API 爬留言
Gemini gemma-4-31b 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38328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8A938E"/>
                </a:solidFill>
                <a:latin typeface="Noto Sans T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1089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D65A3A"/>
                </a:solidFill>
                <a:latin typeface="Noto Serif T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291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1C"/>
                </a:solidFill>
                <a:latin typeface="Noto Serif TC"/>
              </a:rPr>
              <a:t>完整報告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8404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661"/>
                </a:solidFill>
                <a:latin typeface="Noto Sans TC"/>
              </a:rPr>
              <a:t>Sentiment / SWOT / Reply
Marketing / Plan /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0881360" cy="10972"/>
          </a:xfrm>
          <a:prstGeom prst="rect">
            <a:avLst/>
          </a:prstGeom>
          <a:solidFill>
            <a:srgbClr val="CDD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A938E"/>
                </a:solidFill>
                <a:latin typeface="Menlo"/>
              </a:rPr>
              <a:t>30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661"/>
                </a:solidFill>
                <a:latin typeface="Noto Sans TC"/>
              </a:rPr>
              <a:t>從 URL 到完整 dashboard，只要 30 秒（不含 LLM 生成時間）。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§03    TWO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兩種來源，同一份顧問。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店家評論看顧客「怎麼想」；YouTube 留言看外人「怎麼看」。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212080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3108960"/>
            <a:ext cx="640080" cy="640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erif TC"/>
              </a:rPr>
              <a:t>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Menlo"/>
              </a:rPr>
              <a:t>REVIEWS · 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83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1C"/>
                </a:solidFill>
                <a:latin typeface="Noto Serif TC"/>
              </a:rPr>
              <a:t>Google 評論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97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Serper /maps + /reviews 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00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拿到星等、文字、作者、時間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035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303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可分頁抓 ratingCount &gt; 100 的店家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06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806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適合餐廳、零售、服務業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4320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43200"/>
            <a:ext cx="5212080" cy="731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3108960"/>
            <a:ext cx="640080" cy="6400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1089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erif TC"/>
              </a:rPr>
              <a:t>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  <a:latin typeface="Menlo"/>
              </a:rPr>
              <a:t>COMMENTS · UNSTRUCTURED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3383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F1C"/>
                </a:solidFill>
                <a:latin typeface="Noto Serif TC"/>
              </a:rPr>
              <a:t>YouTube 影片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2976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297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YouTube Data API v3（主）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006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800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youtube-comment-downloader（備用）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3035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303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拿到留言文字、讚數、作者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80644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D65A3A"/>
                </a:solidFill>
                <a:latin typeface="Noto Sans TC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806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6661"/>
                </a:solidFill>
                <a:latin typeface="Noto Sans TC"/>
              </a:rPr>
              <a:t>適合創作者、頻道成長診斷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§04    DASHBOARD · §01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一眼看完核心指標。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店名、目前評分、90 天趨勢、情感分布 — 不滑動就看到。</a:t>
            </a:r>
          </a:p>
        </p:txBody>
      </p:sp>
      <p:pic>
        <p:nvPicPr>
          <p:cNvPr id="6" name="Picture 5" descr="04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§05    DASHBOARD · §02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他們實際在談的，不是你以為的。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正向 / 負面 Top 3 主題 + 真實百分比 — 沒抽到主題就空著，不灌罐頭數字。</a:t>
            </a:r>
          </a:p>
        </p:txBody>
      </p:sp>
      <p:pic>
        <p:nvPicPr>
          <p:cNvPr id="6" name="Picture 5" descr="05-t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§06    DASHBOARD · §03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你站在哪裡，你能去哪裡。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SWOT 四象限，每條都標 evidence-backed + 引用觸發它的評論百分比。</a:t>
            </a:r>
          </a:p>
        </p:txBody>
      </p:sp>
      <p:pic>
        <p:nvPicPr>
          <p:cNvPr id="6" name="Picture 5" descr="06-sw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§07    DASHBOARD · §04 ORIGINAL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永遠看得見來源。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最多 50 則原始評論／留言 + 誠實 caption「分析了 N 則 · 顯示精選的 50 則」。</a:t>
            </a:r>
          </a:p>
        </p:txBody>
      </p:sp>
      <p:pic>
        <p:nvPicPr>
          <p:cNvPr id="6" name="Picture 5" descr="07-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§08    TOOLBOX · 5 GENERATORS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從洞察到行動，五件可以今天就做的事。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工具箱：負評回覆草稿、行銷文案、週行動計畫、員工培訓、內部公告信。</a:t>
            </a:r>
          </a:p>
        </p:txBody>
      </p:sp>
      <p:pic>
        <p:nvPicPr>
          <p:cNvPr id="6" name="Picture 5" descr="08-week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5943600" cy="36576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858000" y="2834640"/>
            <a:ext cx="365760" cy="365760"/>
          </a:xfrm>
          <a:prstGeom prst="ellipse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834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788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F1C"/>
                </a:solidFill>
                <a:latin typeface="Noto Serif TC"/>
              </a:rPr>
              <a:t>負評回覆草稿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1272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Noto Sans TC"/>
              </a:rPr>
              <a:t>對個別痛點回，附自我審查面板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0" y="3547872"/>
            <a:ext cx="365760" cy="365760"/>
          </a:xfrm>
          <a:prstGeom prst="ellipse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547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5021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F1C"/>
                </a:solidFill>
                <a:latin typeface="Noto Serif TC"/>
              </a:rPr>
              <a:t>行銷文案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840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Noto Sans TC"/>
              </a:rPr>
              <a:t>對齊真實優勢，社群可貼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4261104"/>
            <a:ext cx="365760" cy="365760"/>
          </a:xfrm>
          <a:prstGeom prst="ellipse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2611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21538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F1C"/>
                </a:solidFill>
                <a:latin typeface="Noto Serif TC"/>
              </a:rPr>
              <a:t>週行動計畫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4553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Noto Sans TC"/>
              </a:rPr>
              <a:t>7 天 to-do（負責人+預期結果）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974336"/>
            <a:ext cx="365760" cy="365760"/>
          </a:xfrm>
          <a:prstGeom prst="ellipse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97433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92861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F1C"/>
                </a:solidFill>
                <a:latin typeface="Noto Serif TC"/>
              </a:rPr>
              <a:t>員工培訓劇本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266944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Noto Sans TC"/>
              </a:rPr>
              <a:t>針對最大負面主題做話術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5687568"/>
            <a:ext cx="365760" cy="365760"/>
          </a:xfrm>
          <a:prstGeom prst="ellipse">
            <a:avLst/>
          </a:prstGeom>
          <a:solidFill>
            <a:srgbClr val="1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568756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Noto Sans T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5641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F1C"/>
                </a:solidFill>
                <a:latin typeface="Noto Serif TC"/>
              </a:rPr>
              <a:t>內部公告信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598017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Noto Sans TC"/>
              </a:rPr>
              <a:t>管理層／員工同步認知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§09    AI ADVISOR ·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問它關於你店的事。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AI 顧問的 context 只有你的資料 — 不是通用 ChatGPT。</a:t>
            </a:r>
          </a:p>
        </p:txBody>
      </p:sp>
      <p:pic>
        <p:nvPicPr>
          <p:cNvPr id="6" name="Picture 5" descr="10-ai-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108813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§10  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零瀏覽器，全 API。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FastAPI + React 18 single-file SPA + Gemini + Serper / YouTube Data API。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97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1C"/>
                </a:solidFill>
                <a:latin typeface="Noto Sans TC"/>
              </a:rPr>
              <a:t>React 18 UMD + @babel/standalone
single-file SPA · 不需 build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91840"/>
            <a:ext cx="10881360" cy="10972"/>
          </a:xfrm>
          <a:prstGeom prst="rect">
            <a:avLst/>
          </a:prstGeom>
          <a:solidFill>
            <a:srgbClr val="CDD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3832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1C"/>
                </a:solidFill>
                <a:latin typeface="Noto Sans TC"/>
              </a:rPr>
              <a:t>FastAPI · Python 3.10+
結構化 SSE /api/v4/analyze-stream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77639"/>
            <a:ext cx="10881360" cy="10972"/>
          </a:xfrm>
          <a:prstGeom prst="rect">
            <a:avLst/>
          </a:prstGeom>
          <a:solidFill>
            <a:srgbClr val="CDD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0690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1C"/>
                </a:solidFill>
                <a:latin typeface="Noto Sans TC"/>
              </a:rPr>
              <a:t>Google Gemini gemma-4-31b-it
9 個 platform-aware feature endpoint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10881360" cy="10972"/>
          </a:xfrm>
          <a:prstGeom prst="rect">
            <a:avLst/>
          </a:prstGeom>
          <a:solidFill>
            <a:srgbClr val="CDD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SCRAPERS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7548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1C"/>
                </a:solidFill>
                <a:latin typeface="Noto Sans TC"/>
              </a:rPr>
              <a:t>Serper API（店家）
YouTube Data API v3 + library fallback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49240"/>
            <a:ext cx="10881360" cy="10972"/>
          </a:xfrm>
          <a:prstGeom prst="rect">
            <a:avLst/>
          </a:prstGeom>
          <a:solidFill>
            <a:srgbClr val="CDD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8640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4406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F1C"/>
                </a:solidFill>
                <a:latin typeface="Noto Sans TC"/>
              </a:rPr>
              <a:t>Docker + Docker Compose
MIT License · 開源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035040"/>
            <a:ext cx="10881360" cy="10972"/>
          </a:xfrm>
          <a:prstGeom prst="rect">
            <a:avLst/>
          </a:prstGeom>
          <a:solidFill>
            <a:srgbClr val="CDD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§11    ENGINEERING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四條鎖定的工程紀律。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661"/>
                </a:solidFill>
                <a:latin typeface="Noto Sans TC"/>
              </a:rPr>
              <a:t>跨後端 + 前端三層強制，任何後續修改都不能 regress。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D65A3A"/>
                </a:solidFill>
                <a:latin typeface="Noto Serif T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0175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1C"/>
                </a:solidFill>
                <a:latin typeface="Noto Sans TC"/>
              </a:rPr>
              <a:t>Frontend timeoutMs ≥ Backend total_timeout_s + 5s buffer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D65A3A"/>
                </a:solidFill>
                <a:latin typeface="Noto Serif T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794759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1C"/>
                </a:solidFill>
                <a:latin typeface="Noto Sans TC"/>
              </a:rPr>
              <a:t>Service 層失敗一律 raise — 不回 fallback dict 造成 silent degradation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D65A3A"/>
                </a:solidFill>
                <a:latin typeface="Noto Serif T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57200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1C"/>
                </a:solidFill>
                <a:latin typeface="Noto Sans TC"/>
              </a:rPr>
              <a:t>Retry 走 exception type — 不靠字串比對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8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D65A3A"/>
                </a:solidFill>
                <a:latin typeface="Noto Serif T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34924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F1C"/>
                </a:solidFill>
                <a:latin typeface="Noto Sans TC"/>
              </a:rPr>
              <a:t>Prompt 骨架對齊 &lt;pre&gt; renderer — 用 【】 ◆　▸ 純文字結構，禁 markdown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65A3A"/>
                </a:solidFill>
                <a:latin typeface="Menlo"/>
              </a:rPr>
              <a:t>§12    QUICK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A1F1C"/>
                </a:solidFill>
                <a:latin typeface="Noto Serif TC"/>
              </a:rPr>
              <a:t>3 步驟，5 分鐘啟動。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D65A3A"/>
                </a:solidFill>
                <a:latin typeface="Noto Serif T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F1C"/>
                </a:solidFill>
                <a:latin typeface="Noto Serif TC"/>
              </a:rPr>
              <a:t>Clone &amp; 設定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78892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Menlo"/>
              </a:rPr>
              <a:t>git clone https://github.com/GKS711/InsightX.git
cp .env.example .env
編輯 .env：GEMINI_API_KEY / SERPER_API_KEY / YOUTUBE_API_KEY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D65A3A"/>
                </a:solidFill>
                <a:latin typeface="Noto Serif T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4160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F1C"/>
                </a:solidFill>
                <a:latin typeface="Noto Serif TC"/>
              </a:rPr>
              <a:t>安裝 + 啟動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06908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Menlo"/>
              </a:rPr>
              <a:t>pip install -r requirements.txt
python -m uvicorn src.main:app --host 0.0.0.0 --port 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D65A3A"/>
                </a:solidFill>
                <a:latin typeface="Noto Serif T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440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F1C"/>
                </a:solidFill>
                <a:latin typeface="Noto Serif TC"/>
              </a:rPr>
              <a:t>開瀏覽器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34924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661"/>
                </a:solidFill>
                <a:latin typeface="Menlo"/>
              </a:rPr>
              <a:t>http://localhost:8000
貼上 Google Maps 或 YouTube 網址 → 開始分析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0B6B3"/>
                </a:solidFill>
                <a:latin typeface="Menlo"/>
              </a:rPr>
              <a:t>INSIGHTX  V 4 . 0 .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Noto Serif TC"/>
              </a:rPr>
              <a:t>立即試用。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B0B6B3"/>
                </a:solidFill>
                <a:latin typeface="Noto Sans TC"/>
              </a:rPr>
              <a:t>把顧客每一句話，讀給老闆聽 — 不論是店家評論，還是 YouTube 留言。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572000"/>
            <a:ext cx="4114800" cy="731520"/>
          </a:xfrm>
          <a:prstGeom prst="rect">
            <a:avLst/>
          </a:prstGeom>
          <a:solidFill>
            <a:srgbClr val="D6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enlo"/>
              </a:rPr>
              <a:t>github.com/GKS711/InsightX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754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A938E"/>
                </a:solidFill>
                <a:latin typeface="Noto Sans TC"/>
              </a:rPr>
              <a:t>MIT License  ·  零瀏覽器  ·  雙平台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217920"/>
            <a:ext cx="10881360" cy="10972"/>
          </a:xfrm>
          <a:prstGeom prst="rect">
            <a:avLst/>
          </a:prstGeom>
          <a:solidFill>
            <a:srgbClr val="44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0B6B3"/>
                </a:solidFill>
                <a:latin typeface="Menlo"/>
              </a:rPr>
              <a:t>InsightX  ·  Built with FastAPI + React 18 + Gemini  ·  Audit-friendly, evidence-backed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