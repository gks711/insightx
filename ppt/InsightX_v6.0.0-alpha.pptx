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411480" cy="411480"/>
          </a:xfrm>
          <a:prstGeom prst="ellipse">
            <a:avLst/>
          </a:prstGeom>
          <a:solidFill>
            <a:srgbClr val="D6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erif TC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57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erif TC"/>
              </a:rPr>
              <a:t>insightx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938E"/>
                </a:solidFill>
                <a:latin typeface="Menlo"/>
              </a:rPr>
              <a:t>V 6 . 0 . 0 - A L P H A   ·   L I V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RELEASE NOTES · 2026-05-19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Noto Serif TC"/>
              </a:rPr>
              <a:t>從 async 到 sync，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Noto Serif TC"/>
              </a:rPr>
              <a:t>從本地到雲端。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0B6B3"/>
                </a:solidFill>
                <a:latin typeface="Noto Sans TC"/>
              </a:rPr>
              <a:t>v5 → v6 — 工作區持久化、Turso 雲端 DB、HF Spaces 部署、Codex img2 雜誌封面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217920"/>
            <a:ext cx="10881360" cy="9525"/>
          </a:xfrm>
          <a:prstGeom prst="rect">
            <a:avLst/>
          </a:prstGeom>
          <a:solidFill>
            <a:srgbClr val="44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B0B6B3"/>
                </a:solidFill>
                <a:latin typeface="Menlo"/>
              </a:rPr>
              <a:t>INSIGHTX  ·  v6.0.0-ALPHA  · 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3550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0B6B3"/>
                </a:solidFill>
                <a:latin typeface="Menlo"/>
              </a:rPr>
              <a:t>Jordan711-insightx-demo.hf.space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F1C"/>
                </a:solidFill>
                <a:latin typeface="Noto Serif TC"/>
              </a:rPr>
              <a:t>四個版本，半年。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從一次性的店家分析 demo，到雲端部署的持久工作區。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37560"/>
            <a:ext cx="164592" cy="164592"/>
          </a:xfrm>
          <a:prstGeom prst="ellipse">
            <a:avLst/>
          </a:prstGeom>
          <a:solidFill>
            <a:srgbClr val="8A9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A938E"/>
                </a:solidFill>
                <a:latin typeface="Noto Serif TC"/>
              </a:rPr>
              <a:t>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2461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Menlo"/>
              </a:rPr>
              <a:t>2026-04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200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F1C"/>
                </a:solidFill>
                <a:latin typeface="Noto Sans TC"/>
              </a:rPr>
              <a:t>Google Maps + YouTube 雙模式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31920"/>
            <a:ext cx="164592" cy="164592"/>
          </a:xfrm>
          <a:prstGeom prst="ellipse">
            <a:avLst/>
          </a:prstGeom>
          <a:solidFill>
            <a:srgbClr val="5B6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B6661"/>
                </a:solidFill>
                <a:latin typeface="Noto Serif TC"/>
              </a:rPr>
              <a:t>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4048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Menlo"/>
              </a:rPr>
              <a:t>2026-04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794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F1C"/>
                </a:solidFill>
                <a:latin typeface="Noto Sans TC"/>
              </a:rPr>
              <a:t>single-file React + magazine UI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526280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Noto Serif TC"/>
              </a:rPr>
              <a:t>v5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4348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Menlo"/>
              </a:rPr>
              <a:t>2026-05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3891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F1C"/>
                </a:solidFill>
                <a:latin typeface="Noto Sans TC"/>
              </a:rPr>
              <a:t>持久工作區 + 9-table schema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120640"/>
            <a:ext cx="164592" cy="164592"/>
          </a:xfrm>
          <a:prstGeom prst="ellipse">
            <a:avLst/>
          </a:prstGeom>
          <a:solidFill>
            <a:srgbClr val="D6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834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65A3A"/>
                </a:solidFill>
                <a:latin typeface="Noto Serif TC"/>
              </a:rPr>
              <a:t>v6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02920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Menlo"/>
              </a:rPr>
              <a:t>2026-05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983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F1C"/>
                </a:solidFill>
                <a:latin typeface="Noto Sans TC"/>
              </a:rPr>
              <a:t>Turso + HF Spaces + sync 重寫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383280"/>
            <a:ext cx="9525" cy="1828800"/>
          </a:xfrm>
          <a:prstGeom prst="rect">
            <a:avLst/>
          </a:prstGeom>
          <a:solidFill>
            <a:srgbClr val="B0B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V5 —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F1C"/>
                </a:solidFill>
                <a:latin typeface="Noto Serif TC"/>
              </a:rPr>
              <a:t>從一次性分析，變成你的店家檔案。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v5 加了 9-table schema、cascade-delete、SSE job streaming。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63239"/>
            <a:ext cx="45720" cy="5943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9 張資料表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7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User · Workspace · Store · ReviewSource · ScrapeJob · Review · AnalysisRun · GeneratedAsset ·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45720" cy="5943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Async SQLAlchemy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FastAPI + asyncpg / aiosqlite，全 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00599"/>
            <a:ext cx="45720" cy="5943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5487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Cascade 刪除完整性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20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DELETE /stores 連帶清掉 sources / jobs / reviews / runs /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669279"/>
            <a:ext cx="45720" cy="5943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23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3 輪 Codex peer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Round 3 加上 passive_deletes + _safe_commit_or_log race-window 保護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THE TURSO PIVOT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F1C"/>
                </a:solidFill>
                <a:latin typeface="Noto Serif TC"/>
              </a:rPr>
              <a:t>為什麼 v6 把整個 stack 改 sync？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因為 Turso 的 Python driver 只支援 sync — async 路根本走不通。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5029200" cy="3200400"/>
          </a:xfrm>
          <a:prstGeom prst="rect">
            <a:avLst/>
          </a:prstGeom>
          <a:solidFill>
            <a:srgbClr val="F3EEE5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880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65A3A"/>
                </a:solidFill>
                <a:latin typeface="Menlo"/>
              </a:rPr>
              <a:t>v5 ASYNC 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FastAPI 0.109 + async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749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SQLAlchemy 2.0 + asyncpg / aiosqlite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114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asyncio.create_task() bg 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4805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asyncio.Queue +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2120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create_async_engine('sqlite+libsql://...')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5778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→ InvalidRequestError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943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sqlalchemy-libsql 0.2 不支援 async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743200"/>
            <a:ext cx="5029200" cy="3200400"/>
          </a:xfrm>
          <a:prstGeom prst="rect">
            <a:avLst/>
          </a:prstGeom>
          <a:solidFill>
            <a:srgbClr val="F3EEE5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880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Menlo"/>
              </a:rPr>
              <a:t>v6 SYNC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3832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FastAPI 0.109 + sync routes (threadpool)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49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SQLAlchemy 2.0 + sqlalchemy-libsql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14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threading.Thread(daemon=True) workers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805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queue.Queue + threading.Event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2120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create_engine('sqlite+libsql://...')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5778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→ 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943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Turso libsql 完全可用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Noto Sans TC"/>
              </a:rPr>
              <a:t>Turso 是 SQLite-compatible 的 serverless DB；libsql 是它的 Rust 實作，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Noto Sans TC"/>
              </a:rPr>
              <a:t>Python binding 還沒做 async wrapper — sync 是唯一路。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V6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F1C"/>
                </a:solidFill>
                <a:latin typeface="Noto Serif TC"/>
              </a:rPr>
              <a:t>整條鏈，全部 sync。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Web 層、ORM、background worker、alembic migration — 都不再有 async/await。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10881360" cy="502920"/>
          </a:xfrm>
          <a:prstGeom prst="rect">
            <a:avLst/>
          </a:prstGeom>
          <a:solidFill>
            <a:srgbClr val="F3EEE5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65A3A"/>
                </a:solidFill>
                <a:latin typeface="Menlo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83464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Babel-standalone React · single-file SPA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91840"/>
            <a:ext cx="10881360" cy="502920"/>
          </a:xfrm>
          <a:prstGeom prst="rect">
            <a:avLst/>
          </a:prstGeom>
          <a:solidFill>
            <a:srgbClr val="F3EEE5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1C"/>
                </a:solidFill>
                <a:latin typeface="Menlo"/>
              </a:rP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3832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FastAPI sync routes · uvicorn threadpool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10881360" cy="502920"/>
          </a:xfrm>
          <a:prstGeom prst="rect">
            <a:avLst/>
          </a:prstGeom>
          <a:solidFill>
            <a:srgbClr val="F3EEE5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65A3A"/>
                </a:solidFill>
                <a:latin typeface="Menlo"/>
              </a:rPr>
              <a:t>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319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google-genai · MODEL_CHAIN multi-fallback · per-call timeout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89120"/>
            <a:ext cx="10881360" cy="502920"/>
          </a:xfrm>
          <a:prstGeom prst="rect">
            <a:avLst/>
          </a:prstGeom>
          <a:solidFill>
            <a:srgbClr val="F3EEE5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8055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1C"/>
                </a:solidFill>
                <a:latin typeface="Menlo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48055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threading.Thread daemons · queue.Queue · threading.Semaphore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10881360" cy="502920"/>
          </a:xfrm>
          <a:prstGeom prst="rect">
            <a:avLst/>
          </a:prstGeom>
          <a:solidFill>
            <a:srgbClr val="F3EEE5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65A3A"/>
                </a:solidFill>
                <a:latin typeface="Menlo"/>
              </a:rPr>
              <a:t>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029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SQLAlchemy 2.0 sync · sqlalchemy-libsql + libsql-experimental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486400"/>
            <a:ext cx="10881360" cy="502920"/>
          </a:xfrm>
          <a:prstGeom prst="rect">
            <a:avLst/>
          </a:prstGeom>
          <a:solidFill>
            <a:srgbClr val="F3EEE5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C5F2D"/>
                </a:solidFill>
                <a:latin typeface="Menlo"/>
              </a:rPr>
              <a:t>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57784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Noto Sans TC"/>
              </a:rPr>
              <a:t>Turso (libsql, serverless SQLite) · ~30ms 日本機房 latency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V6 — HERO ILLUSTRATION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F1C"/>
                </a:solidFill>
                <a:latin typeface="Noto Serif TC"/>
              </a:rPr>
              <a:t>Codex img2 重新繪製 hero。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Saul Bass × 新雜誌 × risograph — 不是程式畫的，是 AI 算的編輯級插圖。</a:t>
            </a:r>
          </a:p>
        </p:txBody>
      </p:sp>
      <p:pic>
        <p:nvPicPr>
          <p:cNvPr id="7" name="Picture 6" descr="hero-list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27432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概念：universal listening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383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中央 sonar 接收器 + 周圍 7 個 source emitter：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8404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⭐ Google Maps 星等 pin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4160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🎙 麥克風 + 聲波（廣義 audio）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4805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▶ YouTube play + comment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8006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💬 chat bubble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1206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❤ heart + comment count (IG-like)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54406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☰ scroll/list (Threads/TikTok-like)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57607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✉ quote envelope（任何書面意見）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6263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Noto Sans TC"/>
              </a:rPr>
              <a:t>Dotted arrows 從各 source 指向中心 — 多源匯流。負空間留給未來 platform。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V6 — LLM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F1C"/>
                </a:solidFill>
                <a:latin typeface="Noto Serif TC"/>
              </a:rPr>
              <a:t>Gemini 掛了，使用者不該知道。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MODEL_CHAIN 自動切換 — 5xx / 429 / transport 錯誤都會 fall through 到下一個 model。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2743200" cy="2286000"/>
          </a:xfrm>
          <a:prstGeom prst="rect">
            <a:avLst/>
          </a:prstGeom>
          <a:solidFill>
            <a:srgbClr val="F3EEE5"/>
          </a:solidFill>
          <a:ln>
            <a:solidFill>
              <a:srgbClr val="D6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15468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65A3A"/>
                </a:solidFill>
                <a:latin typeface="Menlo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204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F1C"/>
                </a:solidFill>
                <a:latin typeface="Menlo"/>
              </a:rPr>
              <a:t>gemma-4-26b-a4b-it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14800"/>
            <a:ext cx="2468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MoE Active 4B
推論快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93192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8A938E"/>
                </a:solidFill>
                <a:latin typeface="Noto Sans T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3017520"/>
            <a:ext cx="2743200" cy="2286000"/>
          </a:xfrm>
          <a:prstGeom prst="rect">
            <a:avLst/>
          </a:prstGeom>
          <a:solidFill>
            <a:srgbClr val="F3EEE5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15468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1C"/>
                </a:solidFill>
                <a:latin typeface="Menlo"/>
              </a:rPr>
              <a:t>FALLBACK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204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F1C"/>
                </a:solidFill>
                <a:latin typeface="Menlo"/>
              </a:rPr>
              <a:t>gemma-4-31b-it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114800"/>
            <a:ext cx="2468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Dense 31B
thinking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93192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8A938E"/>
                </a:solidFill>
                <a:latin typeface="Noto Sans T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017520"/>
            <a:ext cx="2743200" cy="2286000"/>
          </a:xfrm>
          <a:prstGeom prst="rect">
            <a:avLst/>
          </a:prstGeom>
          <a:solidFill>
            <a:srgbClr val="F3EEE5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15468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1C"/>
                </a:solidFill>
                <a:latin typeface="Menlo"/>
              </a:rPr>
              <a:t>FALLBACK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204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F1C"/>
                </a:solidFill>
                <a:latin typeface="Menlo"/>
              </a:rPr>
              <a:t>gemini-2.5-flash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14800"/>
            <a:ext cx="2468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Google GA
高 quota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93192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8A938E"/>
                </a:solidFill>
                <a:latin typeface="Noto Sans T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17520"/>
            <a:ext cx="2743200" cy="2286000"/>
          </a:xfrm>
          <a:prstGeom prst="rect">
            <a:avLst/>
          </a:prstGeom>
          <a:solidFill>
            <a:srgbClr val="F3EEE5"/>
          </a:solidFill>
          <a:ln>
            <a:solidFill>
              <a:srgbClr val="8A9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15468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Menlo"/>
              </a:rPr>
              <a:t>FALLBACK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5204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F1C"/>
                </a:solidFill>
                <a:latin typeface="Menlo"/>
              </a:rPr>
              <a:t>gemini-2.5-flash-lite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114800"/>
            <a:ext cx="2468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輕量備援
最後保險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38E"/>
                </a:solidFill>
                <a:latin typeface="Noto Sans TC"/>
              </a:rPr>
              <a:t>ClientError 4xx 非 429（我們的 bug）→ 立即 raise，不浪費時間試其他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38E"/>
                </a:solidFill>
                <a:latin typeface="Noto Sans TC"/>
              </a:rPr>
              <a:t>ServerError 5xx / RESOURCE_EXHAUSTED / NetworkError → 下一個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38E"/>
                </a:solidFill>
                <a:latin typeface="Noto Sans TC"/>
              </a:rPr>
              <a:t>Per-call http_options.timeout 用剩餘 budget 算 → 單次 attempt 不會超過總 budget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V6 —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F1C"/>
                </a:solidFill>
                <a:latin typeface="Noto Serif TC"/>
              </a:rPr>
              <a:t>$0/月跑在 Hugging Face Spaces。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單階段 Docker、Turso libsql、Codex 3 輪 deploy review APPROVE。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5 個步驟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65A3A"/>
                </a:solidFill>
                <a:latin typeface="Menlo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Menlo"/>
              </a:rPr>
              <a:t>turso db create insightx-demo --location nrt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65A3A"/>
                </a:solidFill>
                <a:latin typeface="Menlo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Menlo"/>
              </a:rPr>
              <a:t>huggingface.co/new-space → Docker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65A3A"/>
                </a:solidFill>
                <a:latin typeface="Menlo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Menlo"/>
              </a:rPr>
              <a:t>設 5 個 Space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65A3A"/>
                </a:solidFill>
                <a:latin typeface="Menlo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Menlo"/>
              </a:rPr>
              <a:t>git clone Space repo → cp 原始碼 → git push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65A3A"/>
                </a:solidFill>
                <a:latin typeface="Menlo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5778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Menlo"/>
              </a:rPr>
              <a:t>等 build (~3min) → 上線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7432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Dockerfile 重點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3832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·  FROM python:3.10-slim · 單階段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7947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·  port 7860（HF default）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2062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·  non-root uid=1000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6177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·  alembic upgrade head 開機時跑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029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·  HEALTHCHECK /api/meta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440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·  JSON-form CMD + exec → uvicorn IS PID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852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·  image size 408 MB（移掉 build-essential 後）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V6 —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F1C"/>
                </a:solidFill>
                <a:latin typeface="Noto Serif TC"/>
              </a:rPr>
              <a:t>Landing 分析 → 工作區持久化。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v4 stateless + v5 持久 schema 之間的橋，default OFF（多租戶安全）。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A938E"/>
                </a:solidFill>
                <a:latin typeface="Menlo"/>
              </a:rPr>
              <a:t>Before v6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9260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F1C"/>
                </a:solidFill>
                <a:latin typeface="Noto Sans TC"/>
              </a:rPr>
              <a:t>v4 /api/analyze · 一次性 ·  ✗ 不寫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2918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38E"/>
                </a:solidFill>
                <a:latin typeface="Noto Sans TC"/>
              </a:rPr>
              <a:t>→ /workspace/ 永遠空空的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10881360" cy="9525"/>
          </a:xfrm>
          <a:prstGeom prst="rect">
            <a:avLst/>
          </a:prstGeom>
          <a:solidFill>
            <a:srgbClr val="CDD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65A3A"/>
                </a:solidFill>
                <a:latin typeface="Menlo"/>
              </a:rPr>
              <a:t>v6 fix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2976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F1C"/>
                </a:solidFill>
                <a:latin typeface="Noto Sans TC"/>
              </a:rPr>
              <a:t>_persist_v4_analyze_to_workspace()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709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✓ 寫入 Store · ReviewSource · ScrapeJob · Review · AnalysisRun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074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✓ Dedupe by ReviewSource.external_url（同 URL 重分析 = 更新）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440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✓ 非 fatal（失敗 log + 吞，user 看到的 API 回應不受影響）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8064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✓ Gate: IX_ENABLE_V4_WORKSPACE_PERSIST=1 才開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Noto Sans TC"/>
              </a:rPr>
              <a:t>⚠️ 為什麼 default OFF：v5α 用 hardcoded default user，公開 demo 開了會讓 visitor 互看資料。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83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Noto Sans TC"/>
              </a:rPr>
              <a:t>Cookie-based session scoping 在 v6.1 路線上。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CONSENSUS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F1C"/>
                </a:solidFill>
                <a:latin typeface="Noto Serif TC"/>
              </a:rPr>
              <a:t>8 輪 Codex peer review，全部 APPROVE。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雙 AI 共識才打 v6.0.0-alpha tag。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65A3A"/>
                </a:solidFill>
                <a:latin typeface="Noto Serif TC"/>
              </a:rPr>
              <a:t>Phase 1: Sync refactor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65A3A"/>
                </a:solidFill>
                <a:latin typeface="Menlo"/>
              </a:rP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1C"/>
                </a:solidFill>
                <a:latin typeface="Menlo"/>
              </a:rP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108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Noto Sans TC"/>
              </a:rPr>
              <a:t>per-call LLM timeout, queue cleanup, SSE worker 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65A3A"/>
                </a:solidFill>
                <a:latin typeface="Menlo"/>
              </a:rPr>
              <a:t>R2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1C"/>
                </a:solidFill>
                <a:latin typeface="Menlo"/>
              </a:rPr>
              <a:t>NEEDS-WORK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290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Noto Sans TC"/>
              </a:rPr>
              <a:t>needed producer-pop + idle 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3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65A3A"/>
                </a:solidFill>
                <a:latin typeface="Menlo"/>
              </a:rPr>
              <a:t>R3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4903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1C"/>
                </a:solidFill>
                <a:latin typeface="Menlo"/>
              </a:rPr>
              <a:t>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4903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Noto Sans TC"/>
              </a:rPr>
              <a:t>consensus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Noto Serif TC"/>
              </a:rPr>
              <a:t>Phase 2: HF Spaces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Menlo"/>
              </a:rPr>
              <a:t>R1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262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1C"/>
                </a:solidFill>
                <a:latin typeface="Menlo"/>
              </a:rPr>
              <a:t>NEEDS-FIXES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5262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Noto Sans TC"/>
              </a:rPr>
              <a:t>report regen, build-essential, HEALTHCHECK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46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Menlo"/>
              </a:rPr>
              <a:t>R2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463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1C"/>
                </a:solidFill>
                <a:latin typeface="Menlo"/>
              </a:rPr>
              <a:t>WITH-NOTES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846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Noto Sans TC"/>
              </a:rPr>
              <a:t>initial recipe missing .dockerignore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66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Menlo"/>
              </a:rPr>
              <a:t>R3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663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1C"/>
                </a:solidFill>
                <a:latin typeface="Menlo"/>
              </a:rPr>
              <a:t>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1663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Noto Sans TC"/>
              </a:rPr>
              <a:t>clean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77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F1C"/>
                </a:solidFill>
                <a:latin typeface="Noto Serif TC"/>
              </a:rPr>
              <a:t>Phase 3: Pre-freeze full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1C"/>
                </a:solidFill>
                <a:latin typeface="Menlo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9436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1C"/>
                </a:solidFill>
                <a:latin typeface="Menlo"/>
              </a:rPr>
              <a:t>BLOCK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9436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Noto Sans TC"/>
              </a:rPr>
              <a:t>multi-tenant privacy via bridge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2636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1C"/>
                </a:solidFill>
                <a:latin typeface="Menlo"/>
              </a:rPr>
              <a:t>R2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6263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1C"/>
                </a:solidFill>
                <a:latin typeface="Menlo"/>
              </a:rPr>
              <a:t>APPROVE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Noto Sans TC"/>
              </a:rPr>
              <a:t>env-gate + deferred items doc'd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F1C"/>
                </a:solidFill>
                <a:latin typeface="Noto Serif TC"/>
              </a:rPr>
              <a:t>現在就試。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Jordan711-insightx-demo.hf.space — 不用註冊、不用安裝、月費 $0。</a:t>
            </a:r>
          </a:p>
        </p:txBody>
      </p:sp>
      <p:pic>
        <p:nvPicPr>
          <p:cNvPr id="7" name="Picture 6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77724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78240" y="2743200"/>
            <a:ext cx="2926080" cy="1828800"/>
          </a:xfrm>
          <a:prstGeom prst="rect">
            <a:avLst/>
          </a:prstGeom>
          <a:solidFill>
            <a:srgbClr val="1A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19" y="28803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65A3A"/>
                </a:solidFill>
                <a:latin typeface="Menlo"/>
              </a:rPr>
              <a:t>DEMO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19" y="3246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nlo"/>
              </a:rPr>
              <a:t>Jordan711-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19" y="3566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nlo"/>
              </a:rPr>
              <a:t>insightx-demo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19" y="3886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nlo"/>
              </a:rPr>
              <a:t>.hf.space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19" y="42976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B0B6B3"/>
                </a:solidFill>
                <a:latin typeface="Menlo"/>
              </a:rPr>
              <a:t>貼 Google Maps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0292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65A3A"/>
                </a:solidFill>
                <a:latin typeface="Menlo"/>
              </a:rPr>
              <a:t>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5349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661"/>
                </a:solidFill>
                <a:latin typeface="Noto Sans TC"/>
              </a:rPr>
              <a:t>·  HF Spaces 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62355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661"/>
                </a:solidFill>
                <a:latin typeface="Noto Sans TC"/>
              </a:rPr>
              <a:t>·  Turso libsql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89787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661"/>
                </a:solidFill>
                <a:latin typeface="Noto Sans TC"/>
              </a:rPr>
              <a:t>·  Gemini × 4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6172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661"/>
                </a:solidFill>
                <a:latin typeface="Noto Sans TC"/>
              </a:rPr>
              <a:t>·  FastAPI sync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F1C"/>
                </a:solidFill>
                <a:latin typeface="Noto Serif TC"/>
              </a:rPr>
              <a:t>整個系統，一張圖。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HF Spaces Docker container 接 Turso DB · Gemini API · Serper + YouTube Data API。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6858000" cy="3657600"/>
          </a:xfrm>
          <a:prstGeom prst="rect">
            <a:avLst/>
          </a:prstGeom>
          <a:solidFill>
            <a:srgbClr val="F3EEE5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880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Menlo"/>
              </a:rPr>
              <a:t>HF SPACES (DOCKER, port 7860)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383280"/>
            <a:ext cx="5943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474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1C"/>
                </a:solidFill>
                <a:latin typeface="Menlo"/>
              </a:rPr>
              <a:t>FastAPI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840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38E"/>
                </a:solidFill>
                <a:latin typeface="Menlo"/>
              </a:rPr>
              <a:t>/api/* (v4 stateless)   ·   /api/v5/* (persistent)   ·   /workspace/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572000"/>
            <a:ext cx="1828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4663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1C"/>
                </a:solidFill>
                <a:latin typeface="Menlo"/>
              </a:rPr>
              <a:t>LLMService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39" y="50292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38E"/>
                </a:solidFill>
                <a:latin typeface="Menlo"/>
              </a:rPr>
              <a:t>MODEL_CHAIN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4572000"/>
            <a:ext cx="1828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4663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1C"/>
                </a:solidFill>
                <a:latin typeface="Menlo"/>
              </a:rPr>
              <a:t>SessionLocal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0292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38E"/>
                </a:solidFill>
                <a:latin typeface="Menlo"/>
              </a:rPr>
              <a:t>sync 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4572000"/>
            <a:ext cx="1828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4663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1C"/>
                </a:solidFill>
                <a:latin typeface="Menlo"/>
              </a:rPr>
              <a:t>Threads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50292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38E"/>
                </a:solidFill>
                <a:latin typeface="Menlo"/>
              </a:rPr>
              <a:t>bg workers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669280"/>
            <a:ext cx="59436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8064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F1C"/>
                </a:solidFill>
                <a:latin typeface="Menlo"/>
              </a:rPr>
              <a:t>ScraperService (Serper + YouTube Data v3 + library fallback)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743200"/>
            <a:ext cx="3200400" cy="822960"/>
          </a:xfrm>
          <a:prstGeom prst="rect">
            <a:avLst/>
          </a:prstGeom>
          <a:solidFill>
            <a:srgbClr val="F3EEE5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8346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C5F2D"/>
                </a:solidFill>
                <a:latin typeface="Menlo"/>
              </a:rPr>
              <a:t>Turso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1546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661"/>
                </a:solidFill>
                <a:latin typeface="Noto Sans TC"/>
              </a:rPr>
              <a:t>libsql, nrt region
5GB free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03320"/>
            <a:ext cx="3200400" cy="822960"/>
          </a:xfrm>
          <a:prstGeom prst="rect">
            <a:avLst/>
          </a:prstGeom>
          <a:solidFill>
            <a:srgbClr val="F3EEE5"/>
          </a:solidFill>
          <a:ln>
            <a:solidFill>
              <a:srgbClr val="D6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79475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65A3A"/>
                </a:solidFill>
                <a:latin typeface="Menlo"/>
              </a:rPr>
              <a:t>Gemini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14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661"/>
                </a:solidFill>
                <a:latin typeface="Noto Sans TC"/>
              </a:rPr>
              <a:t>4-model chain
free tier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663440"/>
            <a:ext cx="3200400" cy="822960"/>
          </a:xfrm>
          <a:prstGeom prst="rect">
            <a:avLst/>
          </a:prstGeom>
          <a:solidFill>
            <a:srgbClr val="F3EEE5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75487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1C"/>
                </a:solidFill>
                <a:latin typeface="Menlo"/>
              </a:rPr>
              <a:t>Serper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0749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661"/>
                </a:solidFill>
                <a:latin typeface="Noto Sans TC"/>
              </a:rPr>
              <a:t>Google Maps
reviews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5623560"/>
            <a:ext cx="3200400" cy="822960"/>
          </a:xfrm>
          <a:prstGeom prst="rect">
            <a:avLst/>
          </a:prstGeom>
          <a:solidFill>
            <a:srgbClr val="F3EEE5"/>
          </a:solidFill>
          <a:ln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57150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1C"/>
                </a:solidFill>
                <a:latin typeface="Menlo"/>
              </a:rPr>
              <a:t>YouTube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60350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661"/>
                </a:solidFill>
                <a:latin typeface="Noto Sans TC"/>
              </a:rPr>
              <a:t>Data v3
10k units/day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V6.1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F1C"/>
                </a:solidFill>
                <a:latin typeface="Noto Serif TC"/>
              </a:rPr>
              <a:t>已知限制，5 條全交給 v6.1。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Codex 在 pre-freeze review 找到的；alpha 階段可接受，正式版必修。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65A3A"/>
                </a:solidFill>
                <a:latin typeface="Noto Serif TC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F1C"/>
                </a:solidFill>
                <a:latin typeface="Noto Serif TC"/>
              </a:rPr>
              <a:t>Cookie-based session scoping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目前 hardcoded default user；v6.1 用 HttpOnly cookie + per-visitor anonymous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65A3A"/>
                </a:solidFill>
                <a:latin typeface="Noto Serif TC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20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F1C"/>
                </a:solidFill>
                <a:latin typeface="Noto Serif TC"/>
              </a:rPr>
              <a:t>v5 by-id endpoints 加 ownership scoping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_get_owned_store(session, store_id) helper + 12+ 端點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65A3A"/>
                </a:solidFill>
                <a:latin typeface="Noto Serif TC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97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F1C"/>
                </a:solidFill>
                <a:latin typeface="Noto Serif TC"/>
              </a:rPr>
              <a:t>Store UniqueConstraint(workspace_id, primary_url)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63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alembic migration + IntegrityError retry → 防 concurrent dup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65A3A"/>
                </a:solidFill>
                <a:latin typeface="Noto Serif TC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74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F1C"/>
                </a:solidFill>
                <a:latin typeface="Noto Serif TC"/>
              </a:rPr>
              <a:t>Review dedupe via external_id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sha256(source_id|author|date|text)[:32]，配合既有的 UniqueConstraint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521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65A3A"/>
                </a:solidFill>
                <a:latin typeface="Noto Serif TC"/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F1C"/>
                </a:solidFill>
                <a:latin typeface="Noto Serif TC"/>
              </a:rPr>
              <a:t>AnalysisRun.model_id 記真實 post-fallback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217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_generate() 改回 (text, model_used) tuple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411480" cy="411480"/>
          </a:xfrm>
          <a:prstGeom prst="ellipse">
            <a:avLst/>
          </a:prstGeom>
          <a:solidFill>
            <a:srgbClr val="D6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erif TC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57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erif TC"/>
              </a:rPr>
              <a:t>insightx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FROZEN · 2026-05-19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Noto Serif TC"/>
              </a:rPr>
              <a:t>v6.0.0-alpha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Noto Serif TC"/>
              </a:rPr>
              <a:t>is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0B6B3"/>
                </a:solidFill>
                <a:latin typeface="Menlo"/>
              </a:rPr>
              <a:t>Try it: https://Jordan711-insightx-demo.hf.space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B6B3"/>
                </a:solidFill>
                <a:latin typeface="Menlo"/>
              </a:rPr>
              <a:t>Source: github.com/GKS711/InsightX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B6B3"/>
                </a:solidFill>
                <a:latin typeface="Menlo"/>
              </a:rPr>
              <a:t>Tag: v6.0.0-alpha · Branch: claude/v6-sync-refactor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92240"/>
            <a:ext cx="10881360" cy="9525"/>
          </a:xfrm>
          <a:prstGeom prst="rect">
            <a:avLst/>
          </a:prstGeom>
          <a:solidFill>
            <a:srgbClr val="44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6294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B0B6B3"/>
                </a:solidFill>
                <a:latin typeface="Menlo"/>
              </a:rPr>
              <a:t>BUILT WITH Codex peer review · auto-debug skill · 雙 AI 共識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